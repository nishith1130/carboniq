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0080"/>
            <a:ext cx="685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F172A"/>
                </a:solidFill>
                <a:latin typeface="Calibr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58368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CarbonIQ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389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SME Emission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Detector</a:t>
            </a:r>
          </a:p>
          <a:p>
            <a:pPr algn="l"/>
            <a:r>
              <a:rPr sz="3000" b="1" i="0">
                <a:solidFill>
                  <a:srgbClr val="E6F4EF"/>
                </a:solidFill>
                <a:latin typeface="Calibri"/>
              </a:rPr>
              <a:t>&amp;  Circular Recommender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FF6FF"/>
                </a:solidFill>
                <a:latin typeface="Calibri"/>
              </a:rPr>
              <a:t>Turn a small dyeing mill's utility bills into a BRSR-ready compliance report — for the ₹0-5k/month a real MSME can actually afford.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807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6F4EF"/>
                </a:solidFill>
                <a:latin typeface="Consolas"/>
              </a:rPr>
              <a:t>→  hackout.circular carbon ecosystem   ·   Team CarbonIQ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777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C48"/>
                </a:solidFill>
                <a:latin typeface="Consolas"/>
              </a:rPr>
              <a:t>HACKOUT'26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Circular Carbon Ecosystem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920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onsola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9456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Industrial Emission Leak-Point Detector
&amp; Circular Alternative Recommender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56616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563EB"/>
                </a:solidFill>
                <a:latin typeface="Consolas"/>
              </a:rPr>
              <a:t>63M+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MSMEs in India — our 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3434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5C48"/>
                </a:solidFill>
                <a:latin typeface="Consolas"/>
              </a:rPr>
              <a:t>~ ₹2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434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AI cost per full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51206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onsolas"/>
              </a:rPr>
              <a:t>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21207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monthly data 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5989320"/>
            <a:ext cx="6126480" cy="594360"/>
          </a:xfrm>
          <a:prstGeom prst="roundRect">
            <a:avLst>
              <a:gd name="adj" fmla="val 30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5989320"/>
            <a:ext cx="6126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onsolas"/>
              </a:rPr>
              <a:t>TEAM  ·  [ add member names ]  ·  [ college / institute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The compliance cliff is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Four regulatory forcing functions land in the next 18 months — and none of the existing tools are affordable for an SME.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73152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CBAM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920240"/>
            <a:ext cx="1051560" cy="292608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920240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Consolas"/>
              </a:rPr>
              <a:t>Jan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7744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onsolas"/>
              </a:rPr>
              <a:t>EU Carbon Border Adjustment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43200"/>
            <a:ext cx="4983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Definitive phase. Indian steel, aluminium, cement, fertilizer exporters must submit verified embedded emissions or pay carbon tax.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562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BRSR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69880" y="1920240"/>
            <a:ext cx="1051560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1920240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onsolas"/>
              </a:rPr>
              <a:t>FY 25-26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onsolas"/>
              </a:rPr>
              <a:t>SEBI value-chain mandate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4983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Top 250 listed entities' suppliers must disclose Scope 1/2/3 with limited assurance. Buyer pressure begins Q1 2026.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73152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2336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CCTS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4297680"/>
            <a:ext cx="1051560" cy="292608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297680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Consolas"/>
              </a:rPr>
              <a:t>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75488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onsolas"/>
              </a:rPr>
              <a:t>India Carbon Credit Trading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120640"/>
            <a:ext cx="4983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Trading opens for 490 obligated entities. Cascading demand for verified supplier disclosures across textiles, cement, aluminium.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2194560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336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ADEETIE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9880" y="4297680"/>
            <a:ext cx="1051560" cy="292608"/>
          </a:xfrm>
          <a:prstGeom prst="roundRect">
            <a:avLst>
              <a:gd name="adj" fmla="val 40000"/>
            </a:avLst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4297680"/>
            <a:ext cx="1051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45C48"/>
                </a:solidFill>
                <a:latin typeface="Consolas"/>
              </a:rPr>
              <a:t>Jul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5C48"/>
                </a:solidFill>
                <a:latin typeface="Consolas"/>
              </a:rPr>
              <a:t>MoP Interest Subvention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20640"/>
            <a:ext cx="4983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₹1,000 Cr scheme. 5% / 3% interest subvention for MSME energy-efficiency projects — but SMEs need audit reports to apply.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nsolas"/>
              </a:rPr>
              <a:t>Persefoni / Watershed = ₹8-20 lakh / year   ·   Consultant audit = ₹2-8 lakh one-time   ·   MSME IT budget = &lt; ₹1 lakh / 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THE PROBLEM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The real cost gap — visualised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Enterprise tools were never built for the ₹50-crore mill in Surat. Consultants can't scale to 63 million SMEs.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Persefoni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737360"/>
            <a:ext cx="6059355" cy="594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9755" y="1737360"/>
            <a:ext cx="2743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onsolas"/>
              </a:rPr>
              <a:t>₹8-20 L /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7195" y="173736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Enterprise; 4-6 week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39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Watershed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560320"/>
            <a:ext cx="5693774" cy="594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4174" y="2560320"/>
            <a:ext cx="2743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onsolas"/>
              </a:rPr>
              <a:t>₹10-15 L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1614" y="256032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US-centric compliance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Sprih  /  Snowkap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383280"/>
            <a:ext cx="452937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9770" y="3383280"/>
            <a:ext cx="2743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₹2-6 L /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7210" y="338328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India-oriented but enterprise-tier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59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Traditional consultant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206240"/>
            <a:ext cx="429768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4206240"/>
            <a:ext cx="2743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₹2-8 L /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20624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One-off; not repeatable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CarbonIQ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5029200"/>
            <a:ext cx="1603290" cy="594360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3690" y="5029200"/>
            <a:ext cx="2743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C48"/>
                </a:solidFill>
                <a:latin typeface="Consolas"/>
              </a:rPr>
              <a:t>₹0-60 k /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1130" y="502920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MSME-affordable, monthly SaaS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3B2E"/>
                </a:solidFill>
                <a:latin typeface="Calibri"/>
              </a:rPr>
              <a:t>20× cheaper than Persefoni.   4× cheaper than Sprih.   Same auditable, cited output — repeatable every month.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THE COST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Meet Rajesh — the SME we build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Three users, one workflow. Each gets exactly what they need from the same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7947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794760" cy="3291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PRIMARY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884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Rajesh Mehta — SME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0604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Third-generation dyeing mill in Surat. 45 employees. ₹15 Cr turnover. His European buyer sent an email at 11 PM demanding Scope 1/2/3 by month-end.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3891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Log 12 numbers monthly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548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Get a compliance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1206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Send it to buyer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79"/>
            <a:ext cx="3429000" cy="6858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69279"/>
            <a:ext cx="3154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0F172A"/>
                </a:solidFill>
                <a:latin typeface="Calibri"/>
              </a:rPr>
              <a:t>"I don't have a sustainability team. I just need to keep the contract."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691640"/>
            <a:ext cx="37947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691640"/>
            <a:ext cx="3794760" cy="329184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71907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DOWNSTREAM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14884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Buyer's ESG 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60604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Sustainability lead at a global fashion house. Needs cascading Scope 3 disclosures aligned to BRSR Core to satisfy their own SEBI filing.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3891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Verified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7548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Cited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206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Ready to 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5669279"/>
            <a:ext cx="3429000" cy="685800"/>
          </a:xfrm>
          <a:prstGeom prst="roundRect">
            <a:avLst>
              <a:gd name="adj" fmla="val 25000"/>
            </a:avLst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5669279"/>
            <a:ext cx="3154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0F172A"/>
                </a:solidFill>
                <a:latin typeface="Calibri"/>
              </a:rPr>
              <a:t>"Excel isn't audit-friendly. Give me BRSR format."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691640"/>
            <a:ext cx="37947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1691640"/>
            <a:ext cx="379476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171907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VERIFIER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14884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External Auditor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60604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ISO 14064-3 accredited assurer. Needs reproducible math with activity × factor × source trail for limited assurance sign-off.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3891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Appendix A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548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EF version pinned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1206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✓  Deterministic values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5669279"/>
            <a:ext cx="3429000" cy="6858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5669279"/>
            <a:ext cx="3154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0F172A"/>
                </a:solidFill>
                <a:latin typeface="Calibri"/>
              </a:rPr>
              <a:t>"I can only sign what I can reproduce with a calculator."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PERSONAS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The solution, in one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SME-first carbon compliance &amp; recommendation, delivered in an afternoon at ₹0-5k / month.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Calibri"/>
              </a:rPr>
              <a:t>"Give us 15 minutes of your accountant's time each month."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EFF6FF"/>
                </a:solidFill>
                <a:latin typeface="Calibri"/>
              </a:rPr>
              <a:t>You leave with a BRSR PDF, a hotspot list, and a ranked action plan matched to government financing.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26060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632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63239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onsolas"/>
              </a:rPr>
              <a:t>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49039"/>
            <a:ext cx="21488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12 numbers from utility bills
(or upload PDF, Gemini reads it)</a:t>
            </a:r>
          </a:p>
        </p:txBody>
      </p:sp>
      <p:sp>
        <p:nvSpPr>
          <p:cNvPr id="14" name="Oval 13"/>
          <p:cNvSpPr/>
          <p:nvPr/>
        </p:nvSpPr>
        <p:spPr>
          <a:xfrm>
            <a:off x="1668780" y="50292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172968" y="4201668"/>
            <a:ext cx="146304" cy="237744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301752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3017520"/>
            <a:ext cx="2606040" cy="457200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0632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063239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onsolas"/>
              </a:rPr>
              <a:t>COMPUTE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749039"/>
            <a:ext cx="21488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Deterministic Scope 1/2/3
baseline (GHG Protocol)</a:t>
            </a:r>
          </a:p>
        </p:txBody>
      </p:sp>
      <p:sp>
        <p:nvSpPr>
          <p:cNvPr id="21" name="Oval 20"/>
          <p:cNvSpPr/>
          <p:nvPr/>
        </p:nvSpPr>
        <p:spPr>
          <a:xfrm>
            <a:off x="4457700" y="5029200"/>
            <a:ext cx="365760" cy="365760"/>
          </a:xfrm>
          <a:prstGeom prst="ellipse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961888" y="4201668"/>
            <a:ext cx="146304" cy="237744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01752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017520"/>
            <a:ext cx="26060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0632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063239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onsolas"/>
              </a:rPr>
              <a:t>PRIORITISE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49039"/>
            <a:ext cx="21488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RAG shortlist from 38-item
library + LLM rationale</a:t>
            </a:r>
          </a:p>
        </p:txBody>
      </p:sp>
      <p:sp>
        <p:nvSpPr>
          <p:cNvPr id="28" name="Oval 27"/>
          <p:cNvSpPr/>
          <p:nvPr/>
        </p:nvSpPr>
        <p:spPr>
          <a:xfrm>
            <a:off x="7246620" y="5029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750808" y="4201668"/>
            <a:ext cx="146304" cy="237744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15400" y="3017520"/>
            <a:ext cx="260604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5400" y="3017520"/>
            <a:ext cx="26060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30632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063239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onsolas"/>
              </a:rPr>
              <a:t>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749039"/>
            <a:ext cx="21488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BRSR Core PDF with
cited audit trail</a:t>
            </a:r>
          </a:p>
        </p:txBody>
      </p:sp>
      <p:sp>
        <p:nvSpPr>
          <p:cNvPr id="35" name="Oval 34"/>
          <p:cNvSpPr/>
          <p:nvPr/>
        </p:nvSpPr>
        <p:spPr>
          <a:xfrm>
            <a:off x="10035540" y="502920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Every step is auditable.   Every number is cited.   Nothing is invented.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THE 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6 MVP features — all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Every locked scope item from ideation is live, tested end-to-end, and demoable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822960" cy="32004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onsolas"/>
              </a:rPr>
              <a:t>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2024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onsolas"/>
              </a:rPr>
              <a:t>BASELINE CALCULATOR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Calibri"/>
              </a:rPr>
              <a:t>Deterministic Scope 1 / 2 / 3 math from CEA v20.0, IPCC AR6, DEFRA 2024.
Every value cited with EF ID + version +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965960"/>
            <a:ext cx="822960" cy="32004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onsolas"/>
              </a:rPr>
              <a:t>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92024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onsolas"/>
              </a:rPr>
              <a:t>SECTOR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Calibri"/>
              </a:rPr>
              <a:t>Textile dyeing · foundry · food processing. BEE cluster-benchmark shares power unit-process allocation for hotspot detection.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37560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11879"/>
            <a:ext cx="822960" cy="32004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79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onsolas"/>
              </a:rPr>
              <a:t>SHIPPED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6616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onsolas"/>
              </a:rPr>
              <a:t>HOTSPOT 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Calibri"/>
              </a:rPr>
              <a:t>Pareto-ranked unit-processes. Identifies where carbon is wasted disproportionately. Stable across runs, deterministic ranking.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37560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611879"/>
            <a:ext cx="822960" cy="32004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611879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onsolas"/>
              </a:rPr>
              <a:t>SHIPPED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56616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onsolas"/>
              </a:rPr>
              <a:t>AI RECOMMENDER (RAG)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14800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Calibri"/>
              </a:rPr>
              <a:t>38-intervention library indexed in pgvector. Semantic retrieval → Gemini re-rank → guardrailed rationale prose.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79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257799"/>
            <a:ext cx="822960" cy="32004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57799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onsolas"/>
              </a:rPr>
              <a:t>SHIPPED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212079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onsolas"/>
              </a:rPr>
              <a:t>MACC 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19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Calibri"/>
              </a:rPr>
              <a:t>₹/tCO₂e curve with CapEx, payback, ADEETIE-eligibility chip. Net-negative interventions highlighted for immediate ROI.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983479"/>
            <a:ext cx="5532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5257799"/>
            <a:ext cx="822960" cy="32004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257799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onsolas"/>
              </a:rPr>
              <a:t>SHIPPED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212079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onsolas"/>
              </a:rPr>
              <a:t>BRSR CORE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760719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  <a:latin typeface="Calibri"/>
              </a:rPr>
              <a:t>Reporting entity, GHG summary, hotspots, Appendix A audit trail, Appendix B methodology. WeasyPrint → ReportLab fallback.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WHAT WE SHIPPED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The two-layer contract we never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LLM writes prose. Math writes numbers. This separation is what makes our report audit-defensible.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532120" cy="44805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965960"/>
            <a:ext cx="1920240" cy="365760"/>
          </a:xfrm>
          <a:prstGeom prst="roundRect">
            <a:avLst>
              <a:gd name="adj" fmla="val 4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DETERMINISTIC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Owns every number in the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4983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Scope 1 / 2 / 3 baseline computation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Unit-process allocation (BEE shares)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Hotspot Pareto ranking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Intervention savings (activity × %)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Cost per tCO₂e, payback, MACC curve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EF version + source + activity ID citation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5394960"/>
            <a:ext cx="49834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394960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1F3A5F"/>
                </a:solidFill>
                <a:latin typeface="Calibri"/>
              </a:rPr>
              <a:t>Any auditor can reproduce every line in the BRSR PDF with a calculator.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1965960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RAG  + 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Owns discovery, prose, personalisation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4800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Semantic query → pgvector top-5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Gemini structured JSON rationale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Whitelist drops hallucinated IDs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Canonical citation replaces LLM's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Result cached in DB, ~₹2 per run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NEVER emits a tCO₂e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5394960"/>
            <a:ext cx="480060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5394960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0F172A"/>
                </a:solidFill>
                <a:latin typeface="Calibri"/>
              </a:rPr>
              <a:t>Take out the AI → we're a calculator. Add it back → we're a consultant.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931920"/>
            <a:ext cx="274320" cy="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ARCHITECTURE MOAT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How the AI actually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 single request through the recommender. Every arrow you see below is enforced by code, not by prompt.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HOTSPOT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Stenter drying
25.75 tCO₂e/month
21.9% share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6412" y="2459736"/>
            <a:ext cx="128016" cy="201168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938528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3852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"Carbon reduction interventions
for textile dyeing, stenter drying,
21.9% of emissions, 25.75 tCO₂e..."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6772" y="2459736"/>
            <a:ext cx="128016" cy="201168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828800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1938528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Gemini embedding-001
3072-dim vector
(deterministic)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57132" y="2459736"/>
            <a:ext cx="128016" cy="201168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19" y="1828800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0" y="1938528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93852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pgvector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3172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Cosine top-5 search
over 38 interventions
(indexed once)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1109960" y="3383280"/>
            <a:ext cx="201168" cy="320040"/>
          </a:xfrm>
          <a:prstGeom prst="down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977639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4087368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87368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TOP-5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480559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5 candidate
interventions
(similarity ranked)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296412" y="4608575"/>
            <a:ext cx="128016" cy="201168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29000" y="3977639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66160" y="4087368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087368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LLM RERANK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480559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Gemini flash-lite
temperature 0
JSON structured out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176772" y="4608575"/>
            <a:ext cx="128016" cy="201168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59" y="3977639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4087368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087368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GUARDRAILS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480559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Whitelist IDs
Canonicalise citations
Reject on failure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057132" y="4608575"/>
            <a:ext cx="128016" cy="201168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89719" y="3977639"/>
            <a:ext cx="2743200" cy="1463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26880" y="4087368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4087368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PERSONALISE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480559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Deterministic math
CapEx · payback · ₹/tCO₂e
Cached in DB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989320" y="5532120"/>
            <a:ext cx="201168" cy="320040"/>
          </a:xfrm>
          <a:prstGeom prst="down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200400" y="5943600"/>
            <a:ext cx="5760720" cy="640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5943600"/>
            <a:ext cx="5760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Waste heat recovery on stenter — Save 55.6 tCO₂e/yr, ₹2.07 L/year, 3.9 yr payback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RAG PIPELINE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Our UX innovation — the triage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Every recommendation gets tagged by the SME. The MACC re-computes around only what they haven't dismissed.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10 RECS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AI-shortlisted interventions from RAG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37560" y="2286000"/>
            <a:ext cx="320040" cy="18288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9039" y="1554480"/>
            <a:ext cx="3200400" cy="1645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6459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SME TAGS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965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FF6FF"/>
                </a:solidFill>
                <a:latin typeface="Calibri"/>
              </a:rPr>
              <a:t>1-click decision per card: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331720"/>
            <a:ext cx="896112" cy="32004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331720"/>
            <a:ext cx="896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Interested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331720"/>
            <a:ext cx="896112" cy="32004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331720"/>
            <a:ext cx="896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Implemented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331720"/>
            <a:ext cx="896112" cy="320040"/>
          </a:xfrm>
          <a:prstGeom prst="roundRect">
            <a:avLst>
              <a:gd name="adj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331720"/>
            <a:ext cx="896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N/A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743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EFF6FF"/>
                </a:solidFill>
                <a:latin typeface="Consolas"/>
              </a:rPr>
              <a:t>Stored locally → org-scoped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95160" y="2286000"/>
            <a:ext cx="320040" cy="18288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60" y="1554480"/>
            <a:ext cx="4251960" cy="13716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554480"/>
            <a:ext cx="54864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164592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onsolas"/>
              </a:rPr>
              <a:t>INTERESTED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01168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Enters live MACC.
Full metrics + rationale
computed. Ranked.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3108960"/>
            <a:ext cx="4251960" cy="1371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108960"/>
            <a:ext cx="54864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32004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onsolas"/>
              </a:rPr>
              <a:t>IMPLEMENTED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56616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Moved to Deferred.
Counts toward the SME's
reduction achievement.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4663440"/>
            <a:ext cx="4251960" cy="137160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4663440"/>
            <a:ext cx="54864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4754879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onsolas"/>
              </a:rPr>
              <a:t>NOT APPLICABLE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12064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Moved to Deferred.
Never re-recommended.
Frees LLM budget.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0B3B2E"/>
                </a:solidFill>
                <a:latin typeface="Calibri"/>
              </a:rPr>
              <a:t>This turns a static "consultant report" into a living decision tool. No competitor SME product does this.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UX 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The product in four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Replace each placeholder with a screenshot from your local build (Cmd+Shift+4).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257800" cy="1508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2578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onsolas"/>
              </a:rPr>
              <a:t>[ SCREENSHOT PLACEHOLDER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29000"/>
            <a:ext cx="1188720" cy="256032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456432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FY 2024-25 running total across 4 monthly runs.
Verification tier chip, hotspot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5257800" cy="1508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578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onsolas"/>
              </a:rPr>
              <a:t>[ SCREENSHOT PLACEHOLDER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429000"/>
            <a:ext cx="1188720" cy="256032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DATA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456432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Only Electricity by default. Add-more dropdown.
AI PDF-upload tab (Gemini vision).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5257800" cy="1508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2578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onsolas"/>
              </a:rPr>
              <a:t>[ SCREENSHOT PLACEHOLDER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97879"/>
            <a:ext cx="1188720" cy="256032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97879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925312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Paginated list of past submissions.
Breakdown · MACC · Report inline per row.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605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297680"/>
            <a:ext cx="5257800" cy="15087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297680"/>
            <a:ext cx="52578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onsolas"/>
              </a:rPr>
              <a:t>[ SCREENSHOT PLACEHOLDER 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5897879"/>
            <a:ext cx="1188720" cy="256032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897879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nsolas"/>
              </a:rPr>
              <a:t>MACC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925312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Titles + 3-state tag buttons.
Compute button reveals full metrics.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DEMO SCREENS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Why we win — not on any single feature, on the combination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Nobody else combines SME-first onboarding, deterministic auditability, RAG-driven recommendations, and India-native finance matching at this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834640" cy="4297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691640"/>
            <a:ext cx="2194560" cy="4297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737360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CarbonIQ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691640"/>
            <a:ext cx="2194560" cy="4297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1737360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Persefoni / Watershed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91640"/>
            <a:ext cx="2103120" cy="4297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1737360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Sprih / Snowkap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691640"/>
            <a:ext cx="2286000" cy="4297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5248" y="1737360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Traditional Consultant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21408"/>
            <a:ext cx="28346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139696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Onboarding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121408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121408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139696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30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121408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7568" y="2139696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4-6 weeks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2121408"/>
            <a:ext cx="2103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7" y="2139696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1-2 weeks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121408"/>
            <a:ext cx="228600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2139696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3-6 weeks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505456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523744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Annual price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250545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2505456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3008" y="2523744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₹0 - 60 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250545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87568" y="2523744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₹8 - 20 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2505456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82127" y="2523744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₹2 - 6 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250545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5248" y="2523744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₹2 - 8 L (one-off)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889503"/>
            <a:ext cx="28346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2907791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Sector templates (SME)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2889503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80" y="2889503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3008" y="2907791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3 shipped, 5 more Q1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2889503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87568" y="2907791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Enterprise-first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2889503"/>
            <a:ext cx="2103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82127" y="2907791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Partial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75520" y="2889503"/>
            <a:ext cx="228600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85248" y="2907791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Per-audit custom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273552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3291840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Indian finance matching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3273552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83280" y="3273552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93008" y="3291840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ADEETIE + SIDBI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3273552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87568" y="3291840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0" y="3273552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82127" y="3291840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75520" y="327355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85248" y="3291840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3657600"/>
            <a:ext cx="28346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675887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BRSR Core PDF ready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83280" y="3657600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83280" y="3657600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3008" y="3675887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Yes, in-app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77840" y="3657600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87568" y="3675887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Custom template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3657600"/>
            <a:ext cx="2103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82127" y="3675887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3657600"/>
            <a:ext cx="228600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85248" y="3675887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Manual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4041648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4059935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Audit trail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404164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383280" y="4041648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93008" y="4059935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Appendix A in every PDF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77840" y="404164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87568" y="4059935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Add-on module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0" y="4041648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82127" y="4059935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Partial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20" y="404164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85248" y="4059935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Auditor's own file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4425696"/>
            <a:ext cx="28346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4443983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Vision OCR on bills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83280" y="4425696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383280" y="4425696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93008" y="4443983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Yes (Gemini)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77840" y="4425696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87568" y="4443983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72400" y="4425696"/>
            <a:ext cx="2103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82127" y="4443983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Yes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75520" y="4425696"/>
            <a:ext cx="228600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985248" y="4443983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4809744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8368" y="4828031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AI-personalised rationale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383280" y="480974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383280" y="4809744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93008" y="4828031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Every intervention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77840" y="480974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87568" y="4828031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Generic advisory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4809744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82127" y="4828031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75520" y="480974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985248" y="4828031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Manual write-up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5193792"/>
            <a:ext cx="28346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8368" y="5212079"/>
            <a:ext cx="261518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3-state triage funnel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83280" y="5193792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383280" y="5193792"/>
            <a:ext cx="2194560" cy="384048"/>
          </a:xfrm>
          <a:prstGeom prst="rect">
            <a:avLst/>
          </a:prstGeom>
          <a:solidFill>
            <a:srgbClr val="E6F4EF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93008" y="5212079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Yes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5193792"/>
            <a:ext cx="21945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687568" y="5212079"/>
            <a:ext cx="19751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72400" y="5193792"/>
            <a:ext cx="210312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882127" y="5212079"/>
            <a:ext cx="188366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75520" y="5193792"/>
            <a:ext cx="228600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985248" y="5212079"/>
            <a:ext cx="2066543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Calibri"/>
              </a:rPr>
              <a:t>N/A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6B7280"/>
                </a:solidFill>
                <a:latin typeface="Calibri"/>
              </a:rPr>
              <a:t>The moat is the combination — SME-first onboarding × deterministic-auditable math × RAG reasoning × India-native financing — at a price a ₹5-crore-turnover mill can pay.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COMPETITION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Impact today. Unit economics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The numbers that turn CarbonIQ from a hackathon project into a business.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623560" cy="44348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96596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IMPACT AT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onsolas"/>
              </a:rPr>
              <a:t>63 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5176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Indian MSMEs — addressable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3756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onsolas"/>
              </a:rPr>
              <a:t>~ ₹2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47472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Marginal AI cost per full BRSR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605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onsolas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29768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Monthly data entry (vs 4-6 week enterprise onboarding)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98348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onsolas"/>
              </a:rPr>
              <a:t>±5-8 %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12064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Total-emission accuracy at MVP (BEE benchmark)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303520" cy="443484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1965960"/>
            <a:ext cx="2377440" cy="36576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9659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REVENUE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60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Pricing tiers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926080"/>
            <a:ext cx="54864" cy="4114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92608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92608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Up to 12 runs / 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92608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6B7280"/>
                </a:solidFill>
                <a:latin typeface="Consolas"/>
              </a:rPr>
              <a:t>₹ 0 / 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429000"/>
            <a:ext cx="54864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42900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42900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Unlimited + PDF branding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342900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563EB"/>
                </a:solidFill>
                <a:latin typeface="Consolas"/>
              </a:rPr>
              <a:t>₹ 1,500 / 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3931920"/>
            <a:ext cx="54864" cy="411480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93192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Assured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93192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3rd-party audit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39319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45C48"/>
                </a:solidFill>
                <a:latin typeface="Consolas"/>
              </a:rPr>
              <a:t>₹ 4,500 / 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617720"/>
            <a:ext cx="475488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709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1,000 paying SMEs × ₹1,500/mo = ₹1.8 Cr ARR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0749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At 99.5 %+ gross margin (₹2 AI cost / run)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44067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C48"/>
                </a:solidFill>
                <a:latin typeface="Consolas"/>
              </a:rPr>
              <a:t>→  breakeven at ~150 paying SMEs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ECONOMICS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Roadmap — three phases, one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What we shipped this weekend, what unlocks the moat, what turns us into a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79476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794760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SHIPPED (Hackout '26)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278892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Full baseline + hotspot + MACC + BRSR PDF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333756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3-sector templates (Textile · Foundry · Food)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388620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9476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RAG-driven recommender (38 items)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443484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434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PDF-upload OCR via Gemini vision</a:t>
            </a:r>
          </a:p>
        </p:txBody>
      </p:sp>
      <p:sp>
        <p:nvSpPr>
          <p:cNvPr id="18" name="Oval 17"/>
          <p:cNvSpPr/>
          <p:nvPr/>
        </p:nvSpPr>
        <p:spPr>
          <a:xfrm>
            <a:off x="822959" y="4983479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9204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3-state intervention triage funnel</a:t>
            </a:r>
          </a:p>
        </p:txBody>
      </p:sp>
      <p:sp>
        <p:nvSpPr>
          <p:cNvPr id="20" name="Oval 19"/>
          <p:cNvSpPr/>
          <p:nvPr/>
        </p:nvSpPr>
        <p:spPr>
          <a:xfrm>
            <a:off x="822959" y="553212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4406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Runs cached, reports paginated, share links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1691640"/>
            <a:ext cx="379476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1691640"/>
            <a:ext cx="379476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73736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2402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Q1 2027 — deepen the moat</a:t>
            </a:r>
          </a:p>
        </p:txBody>
      </p:sp>
      <p:sp>
        <p:nvSpPr>
          <p:cNvPr id="26" name="Oval 25"/>
          <p:cNvSpPr/>
          <p:nvPr/>
        </p:nvSpPr>
        <p:spPr>
          <a:xfrm>
            <a:off x="4754880" y="278892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26974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Vernacular voice entry (Sarvam ASR + IndicTrans2)</a:t>
            </a:r>
          </a:p>
        </p:txBody>
      </p:sp>
      <p:sp>
        <p:nvSpPr>
          <p:cNvPr id="28" name="Oval 27"/>
          <p:cNvSpPr/>
          <p:nvPr/>
        </p:nvSpPr>
        <p:spPr>
          <a:xfrm>
            <a:off x="4754880" y="333756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324612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Machine-nameplate refinement (per-plant accuracy)</a:t>
            </a:r>
          </a:p>
        </p:txBody>
      </p:sp>
      <p:sp>
        <p:nvSpPr>
          <p:cNvPr id="30" name="Oval 29"/>
          <p:cNvSpPr/>
          <p:nvPr/>
        </p:nvSpPr>
        <p:spPr>
          <a:xfrm>
            <a:off x="4754880" y="388620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379476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Q&amp;A chatbot over the report</a:t>
            </a:r>
          </a:p>
        </p:txBody>
      </p:sp>
      <p:sp>
        <p:nvSpPr>
          <p:cNvPr id="32" name="Oval 31"/>
          <p:cNvSpPr/>
          <p:nvPr/>
        </p:nvSpPr>
        <p:spPr>
          <a:xfrm>
            <a:off x="4754880" y="443484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43434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CBAM disclosure format + CSV auditor pack</a:t>
            </a:r>
          </a:p>
        </p:txBody>
      </p:sp>
      <p:sp>
        <p:nvSpPr>
          <p:cNvPr id="34" name="Oval 33"/>
          <p:cNvSpPr/>
          <p:nvPr/>
        </p:nvSpPr>
        <p:spPr>
          <a:xfrm>
            <a:off x="4754880" y="4983479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489204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Backend intervention_status table (cross-device)</a:t>
            </a:r>
          </a:p>
        </p:txBody>
      </p:sp>
      <p:sp>
        <p:nvSpPr>
          <p:cNvPr id="36" name="Oval 35"/>
          <p:cNvSpPr/>
          <p:nvPr/>
        </p:nvSpPr>
        <p:spPr>
          <a:xfrm>
            <a:off x="4754880" y="553212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54406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Multi-facility management (org-wide rollup)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1691640"/>
            <a:ext cx="379476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0" y="1691640"/>
            <a:ext cx="3794760" cy="411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173736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22402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H2 2027 — become a platform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278892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26974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ADEETIE + SIDBI + PAT loan-application flow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0" y="333756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324612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Verified assurance workflow (ISO 14064-3)</a:t>
            </a:r>
          </a:p>
        </p:txBody>
      </p:sp>
      <p:sp>
        <p:nvSpPr>
          <p:cNvPr id="46" name="Oval 45"/>
          <p:cNvSpPr/>
          <p:nvPr/>
        </p:nvSpPr>
        <p:spPr>
          <a:xfrm>
            <a:off x="8686800" y="3886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5400" y="379476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Buyer portal (Nike / H&amp;M supplier disclosures)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0" y="443484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5400" y="43434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IoT sub-meter integration (hardware partners)</a:t>
            </a:r>
          </a:p>
        </p:txBody>
      </p:sp>
      <p:sp>
        <p:nvSpPr>
          <p:cNvPr id="50" name="Oval 49"/>
          <p:cNvSpPr/>
          <p:nvPr/>
        </p:nvSpPr>
        <p:spPr>
          <a:xfrm>
            <a:off x="8686800" y="4983479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15400" y="489204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5 additional sectors (chemicals, ceramics, paper)</a:t>
            </a:r>
          </a:p>
        </p:txBody>
      </p:sp>
      <p:sp>
        <p:nvSpPr>
          <p:cNvPr id="52" name="Oval 51"/>
          <p:cNvSpPr/>
          <p:nvPr/>
        </p:nvSpPr>
        <p:spPr>
          <a:xfrm>
            <a:off x="8686800" y="553212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54406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White-label for banks &amp; DISCOMs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CarbonIQ  ·  Circular Carbon Ecosystem  ·  HackOut'26  ·  ROADMAP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53796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onsola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1">
                <a:solidFill>
                  <a:srgbClr val="FFFFFF"/>
                </a:solidFill>
                <a:latin typeface="Calibri"/>
              </a:rPr>
              <a:t>"Take out the AI, we're a calculator.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1">
                <a:solidFill>
                  <a:srgbClr val="E6F4EF"/>
                </a:solidFill>
                <a:latin typeface="Calibri"/>
              </a:rPr>
              <a:t>Add it back, we're a consultant at ₹2 per report."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91840"/>
            <a:ext cx="210312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611880"/>
            <a:ext cx="3017520" cy="11887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611880"/>
            <a:ext cx="54864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37033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onsolas"/>
              </a:rPr>
              <a:t>AUDITABLE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1148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FF6FF"/>
                </a:solidFill>
                <a:latin typeface="Calibri"/>
              </a:rPr>
              <a:t>Deterministic math
Every number cited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611880"/>
            <a:ext cx="3017520" cy="11887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145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3611880"/>
            <a:ext cx="54864" cy="1188720"/>
          </a:xfrm>
          <a:prstGeom prst="rect">
            <a:avLst/>
          </a:prstGeom>
          <a:solidFill>
            <a:srgbClr val="145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7033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C48"/>
                </a:solidFill>
                <a:latin typeface="Consolas"/>
              </a:rPr>
              <a:t>AFFORDABLE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1148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FF6FF"/>
                </a:solidFill>
                <a:latin typeface="Calibri"/>
              </a:rPr>
              <a:t>₹0-5 k / month
vs ₹8-20 L / 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611880"/>
            <a:ext cx="3017520" cy="11887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3611880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7033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onsolas"/>
              </a:rPr>
              <a:t>ACTIONABLE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1148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FF6FF"/>
                </a:solidFill>
                <a:latin typeface="Calibri"/>
              </a:rPr>
              <a:t>3-state triage
Gov't finance matched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212080"/>
            <a:ext cx="6675120" cy="100584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525780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Team CarbonIQ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623560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EFF6FF"/>
                </a:solidFill>
                <a:latin typeface="Calibri"/>
              </a:rPr>
              <a:t>[ Add your member names + college here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943600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6F4EF"/>
                </a:solidFill>
                <a:latin typeface="Consolas"/>
              </a:rPr>
              <a:t>github.com/Nishith1130/CarbonIQ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Thank you.   ·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